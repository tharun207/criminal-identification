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8"/>
  </p:notesMasterIdLst>
  <p:handoutMasterIdLst>
    <p:handoutMasterId r:id="rId19"/>
  </p:handoutMasterIdLst>
  <p:sldIdLst>
    <p:sldId id="256" r:id="rId5"/>
    <p:sldId id="257" r:id="rId6"/>
    <p:sldId id="260" r:id="rId7"/>
    <p:sldId id="258" r:id="rId8"/>
    <p:sldId id="286" r:id="rId9"/>
    <p:sldId id="287" r:id="rId10"/>
    <p:sldId id="261" r:id="rId11"/>
    <p:sldId id="288" r:id="rId12"/>
    <p:sldId id="284" r:id="rId13"/>
    <p:sldId id="289" r:id="rId14"/>
    <p:sldId id="290" r:id="rId15"/>
    <p:sldId id="269"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09" autoAdjust="0"/>
    <p:restoredTop sz="94660"/>
  </p:normalViewPr>
  <p:slideViewPr>
    <p:cSldViewPr snapToGrid="0">
      <p:cViewPr varScale="1">
        <p:scale>
          <a:sx n="64" d="100"/>
          <a:sy n="64" d="100"/>
        </p:scale>
        <p:origin x="604" y="48"/>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pPr/>
              <a:t>4/7/2025</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pPr/>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pPr/>
              <a:t>4/7/2025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pPr/>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pPr/>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118924" y="2573479"/>
            <a:ext cx="9576120" cy="1134319"/>
          </a:xfrm>
        </p:spPr>
        <p:txBody>
          <a:bodyPr/>
          <a:lstStyle/>
          <a:p>
            <a:r>
              <a:rPr lang="en-US" sz="5400" b="0" dirty="0">
                <a:solidFill>
                  <a:schemeClr val="accent1">
                    <a:lumMod val="40000"/>
                    <a:lumOff val="60000"/>
                  </a:schemeClr>
                </a:solidFill>
                <a:latin typeface="Trebuchet MS (Headings)"/>
              </a:rPr>
              <a:t>CRIMINAL IDENTIFICATION</a:t>
            </a:r>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9949070" y="5798849"/>
            <a:ext cx="2474844" cy="860370"/>
          </a:xfrm>
        </p:spPr>
        <p:txBody>
          <a:bodyPr>
            <a:noAutofit/>
          </a:bodyPr>
          <a:lstStyle/>
          <a:p>
            <a:r>
              <a:rPr lang="en-IN" sz="2800" dirty="0">
                <a:solidFill>
                  <a:schemeClr val="accent1">
                    <a:lumMod val="20000"/>
                    <a:lumOff val="80000"/>
                  </a:schemeClr>
                </a:solidFill>
              </a:rPr>
              <a:t> By</a:t>
            </a:r>
          </a:p>
          <a:p>
            <a:r>
              <a:rPr lang="en-IN" sz="2000" dirty="0">
                <a:solidFill>
                  <a:schemeClr val="accent1">
                    <a:lumMod val="20000"/>
                    <a:lumOff val="80000"/>
                  </a:schemeClr>
                </a:solidFill>
              </a:rPr>
              <a:t> </a:t>
            </a:r>
            <a:r>
              <a:rPr lang="en-IN" sz="2800" dirty="0">
                <a:solidFill>
                  <a:schemeClr val="accent1">
                    <a:lumMod val="20000"/>
                    <a:lumOff val="80000"/>
                  </a:schemeClr>
                </a:solidFill>
              </a:rPr>
              <a:t>Tharun P</a:t>
            </a:r>
            <a:r>
              <a:rPr lang="en-US" sz="2000" dirty="0">
                <a:solidFill>
                  <a:schemeClr val="accent1">
                    <a:lumMod val="20000"/>
                    <a:lumOff val="80000"/>
                  </a:schemeClr>
                </a:solidFill>
              </a:rPr>
              <a:t>	</a:t>
            </a:r>
            <a:endParaRPr lang="en-IN" sz="2000" dirty="0">
              <a:solidFill>
                <a:schemeClr val="accent1">
                  <a:lumMod val="20000"/>
                  <a:lumOff val="80000"/>
                </a:schemeClr>
              </a:solidFill>
            </a:endParaRPr>
          </a:p>
        </p:txBody>
      </p:sp>
    </p:spTree>
    <p:extLst>
      <p:ext uri="{BB962C8B-B14F-4D97-AF65-F5344CB8AC3E}">
        <p14:creationId xmlns:p14="http://schemas.microsoft.com/office/powerpoint/2010/main" val="3946934594"/>
      </p:ext>
    </p:extLst>
  </p:cSld>
  <p:clrMapOvr>
    <a:overrideClrMapping bg1="lt1" tx1="dk1" bg2="lt2" tx2="dk2" accent1="accent1" accent2="accent2" accent3="accent3" accent4="accent4" accent5="accent5" accent6="accent6" hlink="hlink" folHlink="folHlink"/>
  </p:clrMapOvr>
  <p:transition spd="slow">
    <p:dissolv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50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p:cTn id="7" dur="1000" fill="hold"/>
                                        <p:tgtEl>
                                          <p:spTgt spid="3">
                                            <p:txEl>
                                              <p:pRg st="1" end="1"/>
                                            </p:txEl>
                                          </p:spTgt>
                                        </p:tgtEl>
                                        <p:attrNameLst>
                                          <p:attrName>ppt_w</p:attrName>
                                        </p:attrNameLst>
                                      </p:cBhvr>
                                      <p:tavLst>
                                        <p:tav tm="0">
                                          <p:val>
                                            <p:strVal val="#ppt_w+.3"/>
                                          </p:val>
                                        </p:tav>
                                        <p:tav tm="100000">
                                          <p:val>
                                            <p:strVal val="#ppt_w"/>
                                          </p:val>
                                        </p:tav>
                                      </p:tavLst>
                                    </p:anim>
                                    <p:anim calcmode="lin" valueType="num">
                                      <p:cBhvr>
                                        <p:cTn id="8" dur="1000" fill="hold"/>
                                        <p:tgtEl>
                                          <p:spTgt spid="3">
                                            <p:txEl>
                                              <p:pRg st="1" end="1"/>
                                            </p:txEl>
                                          </p:spTgt>
                                        </p:tgtEl>
                                        <p:attrNameLst>
                                          <p:attrName>ppt_h</p:attrName>
                                        </p:attrNameLst>
                                      </p:cBhvr>
                                      <p:tavLst>
                                        <p:tav tm="0">
                                          <p:val>
                                            <p:strVal val="#ppt_h"/>
                                          </p:val>
                                        </p:tav>
                                        <p:tav tm="100000">
                                          <p:val>
                                            <p:strVal val="#ppt_h"/>
                                          </p:val>
                                        </p:tav>
                                      </p:tavLst>
                                    </p:anim>
                                    <p:animEffect transition="in" filter="fade">
                                      <p:cBhvr>
                                        <p:cTn id="9" dur="1000"/>
                                        <p:tgtEl>
                                          <p:spTgt spid="3">
                                            <p:txEl>
                                              <p:pRg st="1" end="1"/>
                                            </p:txEl>
                                          </p:spTgt>
                                        </p:tgtEl>
                                      </p:cBhvr>
                                    </p:animEffect>
                                  </p:childTnLst>
                                </p:cTn>
                              </p:par>
                              <p:par>
                                <p:cTn id="10" presetID="50" presetClass="entr" presetSubtype="0" decel="100000" fill="hold" nodeType="withEffect">
                                  <p:stCondLst>
                                    <p:cond delay="50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p:cTn id="12" dur="1000" fill="hold"/>
                                        <p:tgtEl>
                                          <p:spTgt spid="3">
                                            <p:txEl>
                                              <p:pRg st="0" end="0"/>
                                            </p:txEl>
                                          </p:spTgt>
                                        </p:tgtEl>
                                        <p:attrNameLst>
                                          <p:attrName>ppt_w</p:attrName>
                                        </p:attrNameLst>
                                      </p:cBhvr>
                                      <p:tavLst>
                                        <p:tav tm="0">
                                          <p:val>
                                            <p:strVal val="#ppt_w+.3"/>
                                          </p:val>
                                        </p:tav>
                                        <p:tav tm="100000">
                                          <p:val>
                                            <p:strVal val="#ppt_w"/>
                                          </p:val>
                                        </p:tav>
                                      </p:tavLst>
                                    </p:anim>
                                    <p:anim calcmode="lin" valueType="num">
                                      <p:cBhvr>
                                        <p:cTn id="13" dur="1000" fill="hold"/>
                                        <p:tgtEl>
                                          <p:spTgt spid="3">
                                            <p:txEl>
                                              <p:pRg st="0" end="0"/>
                                            </p:txEl>
                                          </p:spTgt>
                                        </p:tgtEl>
                                        <p:attrNameLst>
                                          <p:attrName>ppt_h</p:attrName>
                                        </p:attrNameLst>
                                      </p:cBhvr>
                                      <p:tavLst>
                                        <p:tav tm="0">
                                          <p:val>
                                            <p:strVal val="#ppt_h"/>
                                          </p:val>
                                        </p:tav>
                                        <p:tav tm="100000">
                                          <p:val>
                                            <p:strVal val="#ppt_h"/>
                                          </p:val>
                                        </p:tav>
                                      </p:tavLst>
                                    </p:anim>
                                    <p:animEffect transition="in" filter="fade">
                                      <p:cBhvr>
                                        <p:cTn id="14"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1443761" y="557996"/>
            <a:ext cx="7781544" cy="859055"/>
          </a:xfrm>
        </p:spPr>
        <p:txBody>
          <a:bodyPr/>
          <a:lstStyle/>
          <a:p>
            <a:r>
              <a:rPr lang="en-IN" dirty="0">
                <a:solidFill>
                  <a:schemeClr val="accent1">
                    <a:lumMod val="20000"/>
                    <a:lumOff val="80000"/>
                  </a:schemeClr>
                </a:solidFill>
              </a:rPr>
              <a:t>Abstract</a:t>
            </a:r>
            <a:endParaRPr lang="en-US" dirty="0">
              <a:solidFill>
                <a:schemeClr val="accent1">
                  <a:lumMod val="20000"/>
                  <a:lumOff val="80000"/>
                </a:schemeClr>
              </a:solidFill>
            </a:endParaRPr>
          </a:p>
        </p:txBody>
      </p:sp>
      <p:sp>
        <p:nvSpPr>
          <p:cNvPr id="5" name="Text Placeholder 4">
            <a:extLst>
              <a:ext uri="{FF2B5EF4-FFF2-40B4-BE49-F238E27FC236}">
                <a16:creationId xmlns:a16="http://schemas.microsoft.com/office/drawing/2014/main" id="{0A95F4DE-39B7-4CE2-BC1E-8B8AE662A895}"/>
              </a:ext>
            </a:extLst>
          </p:cNvPr>
          <p:cNvSpPr>
            <a:spLocks noGrp="1"/>
          </p:cNvSpPr>
          <p:nvPr>
            <p:ph type="body" idx="1"/>
          </p:nvPr>
        </p:nvSpPr>
        <p:spPr>
          <a:xfrm>
            <a:off x="1450974" y="1668780"/>
            <a:ext cx="6996339" cy="2888706"/>
          </a:xfrm>
        </p:spPr>
        <p:txBody>
          <a:bodyPr>
            <a:noAutofit/>
          </a:bodyPr>
          <a:lstStyle/>
          <a:p>
            <a:pPr marL="342900" indent="-342900" algn="just">
              <a:buFont typeface="Wingdings" pitchFamily="2" charset="2"/>
              <a:buChar char="§"/>
            </a:pPr>
            <a:r>
              <a:rPr sz="2000" dirty="0">
                <a:solidFill>
                  <a:schemeClr val="bg1"/>
                </a:solidFill>
              </a:rPr>
              <a:t>There is an abnormal increase in the crime rate and also the number of criminals are increasing at an alarming rate, this leads toward a great concern about the security issues like various causes of theft, crimes, burglary, kidnapping, etc. are left unsolved.</a:t>
            </a:r>
          </a:p>
          <a:p>
            <a:pPr marL="342900" indent="-342900" algn="just">
              <a:buFont typeface="Wingdings" pitchFamily="2" charset="2"/>
              <a:buChar char="§"/>
            </a:pPr>
            <a:endParaRPr sz="2000" dirty="0">
              <a:solidFill>
                <a:schemeClr val="bg1"/>
              </a:solidFill>
            </a:endParaRPr>
          </a:p>
          <a:p>
            <a:pPr marL="342900" indent="-342900" algn="just">
              <a:buFont typeface="Wingdings" pitchFamily="2" charset="2"/>
              <a:buChar char="§"/>
            </a:pPr>
            <a:r>
              <a:rPr sz="2000" dirty="0">
                <a:solidFill>
                  <a:schemeClr val="bg1"/>
                </a:solidFill>
              </a:rPr>
              <a:t>This project deals with the identification of criminal by getting images using a Robot to identify criminals and provide protection to the victims.</a:t>
            </a:r>
            <a:endParaRPr lang="en-US" sz="2000" dirty="0">
              <a:solidFill>
                <a:schemeClr val="bg1"/>
              </a:solidFill>
            </a:endParaRP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Tree>
    <p:extLst>
      <p:ext uri="{BB962C8B-B14F-4D97-AF65-F5344CB8AC3E}">
        <p14:creationId xmlns:p14="http://schemas.microsoft.com/office/powerpoint/2010/main" val="29027943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heckerboard(across)">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 calcmode="lin" valueType="num">
                                      <p:cBhvr additive="base">
                                        <p:cTn id="12"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5">
                                            <p:txEl>
                                              <p:pRg st="2" end="2"/>
                                            </p:txEl>
                                          </p:spTgt>
                                        </p:tgtEl>
                                        <p:attrNameLst>
                                          <p:attrName>style.visibility</p:attrName>
                                        </p:attrNameLst>
                                      </p:cBhvr>
                                      <p:to>
                                        <p:strVal val="visible"/>
                                      </p:to>
                                    </p:set>
                                    <p:anim calcmode="lin" valueType="num">
                                      <p:cBhvr additive="base">
                                        <p:cTn id="18"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832104" y="123825"/>
            <a:ext cx="5473446" cy="876300"/>
          </a:xfrm>
        </p:spPr>
        <p:txBody>
          <a:bodyPr/>
          <a:lstStyle/>
          <a:p>
            <a:r>
              <a:rPr lang="en-IN" dirty="0">
                <a:solidFill>
                  <a:schemeClr val="accent1">
                    <a:lumMod val="20000"/>
                    <a:lumOff val="80000"/>
                  </a:schemeClr>
                </a:solidFill>
              </a:rPr>
              <a:t>Introduction</a:t>
            </a:r>
            <a:endParaRPr lang="en-US" dirty="0">
              <a:solidFill>
                <a:schemeClr val="accent1">
                  <a:lumMod val="20000"/>
                  <a:lumOff val="80000"/>
                </a:schemeClr>
              </a:solidFill>
            </a:endParaRPr>
          </a:p>
        </p:txBody>
      </p:sp>
      <p:sp>
        <p:nvSpPr>
          <p:cNvPr id="5" name="Text Placeholder 4">
            <a:extLst>
              <a:ext uri="{FF2B5EF4-FFF2-40B4-BE49-F238E27FC236}">
                <a16:creationId xmlns:a16="http://schemas.microsoft.com/office/drawing/2014/main" id="{DCDDBE65-9AB1-4989-AF86-726591A6A128}"/>
              </a:ext>
            </a:extLst>
          </p:cNvPr>
          <p:cNvSpPr>
            <a:spLocks noGrp="1"/>
          </p:cNvSpPr>
          <p:nvPr>
            <p:ph type="body" idx="1"/>
          </p:nvPr>
        </p:nvSpPr>
        <p:spPr>
          <a:xfrm>
            <a:off x="637651" y="1215347"/>
            <a:ext cx="8367452" cy="5486396"/>
          </a:xfrm>
        </p:spPr>
        <p:txBody>
          <a:bodyPr>
            <a:noAutofit/>
          </a:bodyPr>
          <a:lstStyle/>
          <a:p>
            <a:pPr marL="342900" indent="-342900" algn="just">
              <a:buFont typeface="Wingdings" pitchFamily="2" charset="2"/>
              <a:buChar char="§"/>
            </a:pPr>
            <a:r>
              <a:rPr sz="2000" dirty="0">
                <a:solidFill>
                  <a:schemeClr val="bg1"/>
                </a:solidFill>
              </a:rPr>
              <a:t>To Identify the criminals after the crime, with help of technology we have proposed a project called criminal identification.</a:t>
            </a:r>
          </a:p>
          <a:p>
            <a:pPr marL="342900" indent="-342900" algn="just">
              <a:buFont typeface="Wingdings" pitchFamily="2" charset="2"/>
              <a:buChar char="§"/>
            </a:pPr>
            <a:r>
              <a:rPr sz="2000" dirty="0">
                <a:solidFill>
                  <a:schemeClr val="bg1"/>
                </a:solidFill>
              </a:rPr>
              <a:t>In this with the help of the facial recognition multiple images are scanned randomly in public and it compares them with the images which have already stored in database. </a:t>
            </a:r>
          </a:p>
          <a:p>
            <a:pPr marL="342900" indent="-342900" algn="just">
              <a:buFont typeface="Wingdings" pitchFamily="2" charset="2"/>
              <a:buChar char="§"/>
            </a:pPr>
            <a:r>
              <a:rPr sz="2000" dirty="0" err="1">
                <a:solidFill>
                  <a:schemeClr val="bg1"/>
                </a:solidFill>
              </a:rPr>
              <a:t>Haar</a:t>
            </a:r>
            <a:r>
              <a:rPr sz="2000" dirty="0">
                <a:solidFill>
                  <a:schemeClr val="bg1"/>
                </a:solidFill>
              </a:rPr>
              <a:t> cascading algorithm is used for face recognition. Gait analysis is used to detect human motion and to identify humans on different pattern recognition.</a:t>
            </a:r>
          </a:p>
          <a:p>
            <a:pPr marL="342900" indent="-342900" algn="just">
              <a:buFont typeface="Wingdings" pitchFamily="2" charset="2"/>
              <a:buChar char="§"/>
            </a:pPr>
            <a:r>
              <a:rPr sz="2000" dirty="0">
                <a:solidFill>
                  <a:schemeClr val="bg1"/>
                </a:solidFill>
              </a:rPr>
              <a:t>Firstly it takes the human face as an input and next the face tracking process starts where it track the human faces frame by frame. </a:t>
            </a:r>
          </a:p>
          <a:p>
            <a:pPr marL="342900" indent="-342900" algn="just">
              <a:buFont typeface="Wingdings" pitchFamily="2" charset="2"/>
              <a:buChar char="§"/>
            </a:pPr>
            <a:r>
              <a:rPr sz="2000" dirty="0">
                <a:solidFill>
                  <a:schemeClr val="bg1"/>
                </a:solidFill>
              </a:rPr>
              <a:t>Later by comparing in database it conforms the criminal and gets all records of that criminal, so by these steps it helps us to find criminals</a:t>
            </a:r>
            <a:endParaRPr lang="en-US" sz="2000" dirty="0">
              <a:solidFill>
                <a:schemeClr val="bg1"/>
              </a:solidFill>
            </a:endParaRP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Tree>
    <p:extLst>
      <p:ext uri="{BB962C8B-B14F-4D97-AF65-F5344CB8AC3E}">
        <p14:creationId xmlns:p14="http://schemas.microsoft.com/office/powerpoint/2010/main" val="70982875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checkerboard(across)">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
                                            <p:txEl>
                                              <p:pRg st="1" end="1"/>
                                            </p:txEl>
                                          </p:spTgt>
                                        </p:tgtEl>
                                        <p:attrNameLst>
                                          <p:attrName>style.visibility</p:attrName>
                                        </p:attrNameLst>
                                      </p:cBhvr>
                                      <p:to>
                                        <p:strVal val="visible"/>
                                      </p:to>
                                    </p:set>
                                    <p:animEffect transition="in" filter="checkerboard(across)">
                                      <p:cBhvr>
                                        <p:cTn id="17" dur="500"/>
                                        <p:tgtEl>
                                          <p:spTgt spid="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
                                            <p:txEl>
                                              <p:pRg st="2" end="2"/>
                                            </p:txEl>
                                          </p:spTgt>
                                        </p:tgtEl>
                                        <p:attrNameLst>
                                          <p:attrName>style.visibility</p:attrName>
                                        </p:attrNameLst>
                                      </p:cBhvr>
                                      <p:to>
                                        <p:strVal val="visible"/>
                                      </p:to>
                                    </p:set>
                                    <p:animEffect transition="in" filter="checkerboard(across)">
                                      <p:cBhvr>
                                        <p:cTn id="22" dur="500"/>
                                        <p:tgtEl>
                                          <p:spTgt spid="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
                                            <p:txEl>
                                              <p:pRg st="3" end="3"/>
                                            </p:txEl>
                                          </p:spTgt>
                                        </p:tgtEl>
                                        <p:attrNameLst>
                                          <p:attrName>style.visibility</p:attrName>
                                        </p:attrNameLst>
                                      </p:cBhvr>
                                      <p:to>
                                        <p:strVal val="visible"/>
                                      </p:to>
                                    </p:set>
                                    <p:animEffect transition="in" filter="checkerboard(across)">
                                      <p:cBhvr>
                                        <p:cTn id="27" dur="500"/>
                                        <p:tgtEl>
                                          <p:spTgt spid="5">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
                                            <p:txEl>
                                              <p:pRg st="4" end="4"/>
                                            </p:txEl>
                                          </p:spTgt>
                                        </p:tgtEl>
                                        <p:attrNameLst>
                                          <p:attrName>style.visibility</p:attrName>
                                        </p:attrNameLst>
                                      </p:cBhvr>
                                      <p:to>
                                        <p:strVal val="visible"/>
                                      </p:to>
                                    </p:set>
                                    <p:animEffect transition="in" filter="checkerboard(across)">
                                      <p:cBhvr>
                                        <p:cTn id="3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875C19A-1AAE-476A-A316-A2CF92D763D3}"/>
              </a:ext>
            </a:extLst>
          </p:cNvPr>
          <p:cNvSpPr>
            <a:spLocks noGrp="1"/>
          </p:cNvSpPr>
          <p:nvPr>
            <p:ph type="title"/>
          </p:nvPr>
        </p:nvSpPr>
        <p:spPr>
          <a:xfrm>
            <a:off x="425904" y="601436"/>
            <a:ext cx="11214100" cy="840230"/>
          </a:xfrm>
        </p:spPr>
        <p:txBody>
          <a:bodyPr/>
          <a:lstStyle/>
          <a:p>
            <a:r>
              <a:rPr lang="en-IN" sz="5400" dirty="0">
                <a:solidFill>
                  <a:schemeClr val="accent1">
                    <a:lumMod val="20000"/>
                    <a:lumOff val="80000"/>
                  </a:schemeClr>
                </a:solidFill>
              </a:rPr>
              <a:t>Literature Survey</a:t>
            </a:r>
            <a:endParaRPr lang="en-US" sz="5400" dirty="0">
              <a:solidFill>
                <a:schemeClr val="accent1">
                  <a:lumMod val="20000"/>
                  <a:lumOff val="80000"/>
                </a:schemeClr>
              </a:solidFill>
            </a:endParaRPr>
          </a:p>
        </p:txBody>
      </p:sp>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p:txBody>
          <a:bodyPr/>
          <a:lstStyle/>
          <a:p>
            <a:pPr marL="0" indent="0" algn="just">
              <a:buNone/>
            </a:pPr>
            <a:r>
              <a:rPr lang="en-US" sz="2400" dirty="0"/>
              <a:t>Paper 1 </a:t>
            </a:r>
          </a:p>
          <a:p>
            <a:pPr algn="just">
              <a:buFont typeface="Wingdings" pitchFamily="2" charset="2"/>
              <a:buChar char="§"/>
            </a:pPr>
            <a:r>
              <a:rPr lang="en-US" sz="2400" b="1" dirty="0"/>
              <a:t>A Robotic System for Crime Detection using Gait Analysis</a:t>
            </a:r>
          </a:p>
          <a:p>
            <a:pPr marL="0" indent="0" algn="just">
              <a:buNone/>
            </a:pPr>
            <a:r>
              <a:rPr lang="en-US" dirty="0"/>
              <a:t>           - </a:t>
            </a:r>
            <a:r>
              <a:rPr lang="en-US" dirty="0" err="1"/>
              <a:t>Rochanaa</a:t>
            </a:r>
            <a:r>
              <a:rPr lang="en-US" dirty="0"/>
              <a:t> </a:t>
            </a:r>
            <a:r>
              <a:rPr lang="en-US" dirty="0" err="1"/>
              <a:t>Shri</a:t>
            </a:r>
            <a:r>
              <a:rPr lang="en-US" dirty="0"/>
              <a:t> M, </a:t>
            </a:r>
            <a:r>
              <a:rPr lang="en-US" dirty="0" err="1"/>
              <a:t>Sruthi</a:t>
            </a:r>
            <a:r>
              <a:rPr lang="en-US" dirty="0"/>
              <a:t> V, R. L. </a:t>
            </a:r>
            <a:r>
              <a:rPr lang="en-US" dirty="0" err="1"/>
              <a:t>Nithuna</a:t>
            </a:r>
            <a:r>
              <a:rPr lang="en-US" dirty="0"/>
              <a:t>, </a:t>
            </a:r>
            <a:r>
              <a:rPr lang="en-US" dirty="0" err="1"/>
              <a:t>Suppriya</a:t>
            </a:r>
            <a:r>
              <a:rPr lang="en-US" dirty="0"/>
              <a:t> V. N</a:t>
            </a:r>
          </a:p>
          <a:p>
            <a:pPr algn="just">
              <a:buFont typeface="Wingdings" pitchFamily="2" charset="2"/>
              <a:buChar char="§"/>
            </a:pPr>
            <a:r>
              <a:rPr lang="en-US" sz="2000" dirty="0"/>
              <a:t>Gait Analysis is a Biometric technique used to identify humans based on pattern recognition. This project proposes the use of Gait, not only as a biometric system but also for identifying threatening activities. This system proves to be useful and cost-effective because of its effectiveness and the use of IOT and Cloud to ease the use of Gait Databases from anywhere. This project deals with the CRIME DETECTION using a Robot to identify criminal activities and provide protection to the victims.</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Tree>
    <p:extLst>
      <p:ext uri="{BB962C8B-B14F-4D97-AF65-F5344CB8AC3E}">
        <p14:creationId xmlns:p14="http://schemas.microsoft.com/office/powerpoint/2010/main" val="37334860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
                                            <p:txEl>
                                              <p:pRg st="0" end="0"/>
                                            </p:txEl>
                                          </p:spTgt>
                                        </p:tgtEl>
                                        <p:attrNameLst>
                                          <p:attrName>style.visibility</p:attrName>
                                        </p:attrNameLst>
                                      </p:cBhvr>
                                      <p:to>
                                        <p:strVal val="visible"/>
                                      </p:to>
                                    </p:set>
                                    <p:animEffect transition="in" filter="checkerboard(across)">
                                      <p:cBhvr>
                                        <p:cTn id="12" dur="500"/>
                                        <p:tgtEl>
                                          <p:spTgt spid="10">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10">
                                            <p:txEl>
                                              <p:pRg st="1" end="1"/>
                                            </p:txEl>
                                          </p:spTgt>
                                        </p:tgtEl>
                                        <p:attrNameLst>
                                          <p:attrName>style.visibility</p:attrName>
                                        </p:attrNameLst>
                                      </p:cBhvr>
                                      <p:to>
                                        <p:strVal val="visible"/>
                                      </p:to>
                                    </p:set>
                                    <p:animEffect transition="in" filter="checkerboard(across)">
                                      <p:cBhvr>
                                        <p:cTn id="17" dur="500"/>
                                        <p:tgtEl>
                                          <p:spTgt spid="10">
                                            <p:txEl>
                                              <p:pRg st="1" end="1"/>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10">
                                            <p:txEl>
                                              <p:pRg st="2" end="2"/>
                                            </p:txEl>
                                          </p:spTgt>
                                        </p:tgtEl>
                                        <p:attrNameLst>
                                          <p:attrName>style.visibility</p:attrName>
                                        </p:attrNameLst>
                                      </p:cBhvr>
                                      <p:to>
                                        <p:strVal val="visible"/>
                                      </p:to>
                                    </p:set>
                                    <p:animEffect transition="in" filter="checkerboard(across)">
                                      <p:cBhvr>
                                        <p:cTn id="20" dur="500"/>
                                        <p:tgtEl>
                                          <p:spTgt spid="10">
                                            <p:txEl>
                                              <p:pRg st="2" end="2"/>
                                            </p:txEl>
                                          </p:spTgt>
                                        </p:tgtEl>
                                      </p:cBhvr>
                                    </p:animEffect>
                                  </p:childTnLst>
                                </p:cTn>
                              </p:par>
                              <p:par>
                                <p:cTn id="21" presetID="5" presetClass="entr" presetSubtype="10" fill="hold" nodeType="with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Effect transition="in" filter="checkerboard(across)">
                                      <p:cBhvr>
                                        <p:cTn id="23" dur="500"/>
                                        <p:tgtEl>
                                          <p:spTgt spid="1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32925" y="1116100"/>
            <a:ext cx="6718300" cy="4093243"/>
          </a:xfrm>
        </p:spPr>
        <p:txBody>
          <a:bodyPr/>
          <a:lstStyle/>
          <a:p>
            <a:pPr marL="0" indent="0">
              <a:buNone/>
            </a:pPr>
            <a:r>
              <a:rPr lang="en-US" sz="2400" dirty="0"/>
              <a:t>Paper  2</a:t>
            </a:r>
          </a:p>
          <a:p>
            <a:pPr marL="0" indent="0">
              <a:buNone/>
            </a:pPr>
            <a:endParaRPr lang="en-US" sz="800" dirty="0"/>
          </a:p>
          <a:p>
            <a:pPr>
              <a:buFont typeface="Wingdings" pitchFamily="2" charset="2"/>
              <a:buChar char="§"/>
            </a:pPr>
            <a:r>
              <a:rPr lang="en-US" sz="2400" b="1" dirty="0"/>
              <a:t>Automated Criminal Identification System using Face Detection and Recognition </a:t>
            </a:r>
          </a:p>
          <a:p>
            <a:pPr marL="0" indent="0">
              <a:buNone/>
            </a:pPr>
            <a:r>
              <a:rPr lang="en-US" sz="2000" dirty="0"/>
              <a:t>	</a:t>
            </a:r>
            <a:r>
              <a:rPr lang="en-US" dirty="0"/>
              <a:t>- </a:t>
            </a:r>
            <a:r>
              <a:rPr lang="en-US" dirty="0" err="1"/>
              <a:t>Piyush</a:t>
            </a:r>
            <a:r>
              <a:rPr lang="en-US" dirty="0"/>
              <a:t> </a:t>
            </a:r>
            <a:r>
              <a:rPr lang="en-US" dirty="0" err="1"/>
              <a:t>Chhoriya</a:t>
            </a:r>
            <a:r>
              <a:rPr lang="en-US" dirty="0"/>
              <a:t> </a:t>
            </a:r>
          </a:p>
          <a:p>
            <a:pPr>
              <a:buFont typeface="Wingdings" pitchFamily="2" charset="2"/>
              <a:buChar char="§"/>
            </a:pPr>
            <a:endParaRPr lang="en-US" sz="800" dirty="0"/>
          </a:p>
          <a:p>
            <a:pPr algn="just">
              <a:buFont typeface="Wingdings" pitchFamily="2" charset="2"/>
              <a:buChar char="§"/>
            </a:pPr>
            <a:r>
              <a:rPr lang="en-US" sz="2000" dirty="0"/>
              <a:t>Face recognition is a personal identification system that uses personal characteristics of a person to identify the person's identity. Human face recognition procedure basically consists of two phases, namely face detection, where this process takes place very rapidly in humans, except under conditions where the object is located at a short distance away, the next is the introduction, which recognize a face as individuals. The software requirements for this project is </a:t>
            </a:r>
            <a:r>
              <a:rPr lang="en-US" sz="2000" dirty="0" err="1"/>
              <a:t>matlab</a:t>
            </a:r>
            <a:r>
              <a:rPr lang="en-US" sz="2000" dirty="0"/>
              <a:t> software.</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5</a:t>
            </a:fld>
            <a:endParaRPr lang="en-US" dirty="0"/>
          </a:p>
        </p:txBody>
      </p:sp>
    </p:spTree>
    <p:extLst>
      <p:ext uri="{BB962C8B-B14F-4D97-AF65-F5344CB8AC3E}">
        <p14:creationId xmlns:p14="http://schemas.microsoft.com/office/powerpoint/2010/main" val="37334860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checkerboard(across)">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checkerboard(across)">
                                      <p:cBhvr>
                                        <p:cTn id="12" dur="500"/>
                                        <p:tgtEl>
                                          <p:spTgt spid="10">
                                            <p:txEl>
                                              <p:pRg st="2" end="2"/>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checkerboard(across)">
                                      <p:cBhvr>
                                        <p:cTn id="15" dur="500"/>
                                        <p:tgtEl>
                                          <p:spTgt spid="10">
                                            <p:txEl>
                                              <p:pRg st="3" end="3"/>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10">
                                            <p:txEl>
                                              <p:pRg st="5" end="5"/>
                                            </p:txEl>
                                          </p:spTgt>
                                        </p:tgtEl>
                                        <p:attrNameLst>
                                          <p:attrName>style.visibility</p:attrName>
                                        </p:attrNameLst>
                                      </p:cBhvr>
                                      <p:to>
                                        <p:strVal val="visible"/>
                                      </p:to>
                                    </p:set>
                                    <p:animEffect transition="in" filter="checkerboard(across)">
                                      <p:cBhvr>
                                        <p:cTn id="18" dur="500"/>
                                        <p:tgtEl>
                                          <p:spTgt spid="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EF2BC084-E6DB-4DE7-B309-042A85EBA700}"/>
              </a:ext>
            </a:extLst>
          </p:cNvPr>
          <p:cNvSpPr>
            <a:spLocks noGrp="1"/>
          </p:cNvSpPr>
          <p:nvPr>
            <p:ph type="body" sz="quarter" idx="13"/>
          </p:nvPr>
        </p:nvSpPr>
        <p:spPr>
          <a:xfrm>
            <a:off x="467649" y="1127674"/>
            <a:ext cx="6718300" cy="4093243"/>
          </a:xfrm>
        </p:spPr>
        <p:txBody>
          <a:bodyPr/>
          <a:lstStyle/>
          <a:p>
            <a:pPr marL="0" indent="0">
              <a:buNone/>
            </a:pPr>
            <a:r>
              <a:rPr lang="en-US" sz="2400" dirty="0"/>
              <a:t>Paper  3</a:t>
            </a:r>
          </a:p>
          <a:p>
            <a:pPr marL="0" indent="0">
              <a:buNone/>
            </a:pPr>
            <a:endParaRPr lang="en-US" sz="800" dirty="0"/>
          </a:p>
          <a:p>
            <a:pPr>
              <a:buFont typeface="Wingdings" pitchFamily="2" charset="2"/>
              <a:buChar char="§"/>
            </a:pPr>
            <a:r>
              <a:rPr lang="en-US" sz="2400" b="1" dirty="0"/>
              <a:t>Criminal Identification by Using Real Time Image Processing </a:t>
            </a:r>
          </a:p>
          <a:p>
            <a:pPr marL="0" indent="0" algn="just">
              <a:buNone/>
            </a:pPr>
            <a:r>
              <a:rPr lang="en-US" dirty="0"/>
              <a:t>            - </a:t>
            </a:r>
            <a:r>
              <a:rPr lang="en-US" dirty="0" err="1"/>
              <a:t>Tiwari</a:t>
            </a:r>
            <a:r>
              <a:rPr lang="en-US" dirty="0"/>
              <a:t> </a:t>
            </a:r>
            <a:r>
              <a:rPr lang="en-US" dirty="0" err="1"/>
              <a:t>Aanchaladevi</a:t>
            </a:r>
            <a:r>
              <a:rPr lang="en-US" dirty="0"/>
              <a:t> S, </a:t>
            </a:r>
            <a:r>
              <a:rPr lang="en-US" dirty="0" err="1"/>
              <a:t>Ghotekar</a:t>
            </a:r>
            <a:r>
              <a:rPr lang="en-US" dirty="0"/>
              <a:t> </a:t>
            </a:r>
            <a:r>
              <a:rPr lang="en-US" dirty="0" err="1"/>
              <a:t>Shubhangi</a:t>
            </a:r>
            <a:r>
              <a:rPr lang="en-US" dirty="0"/>
              <a:t> S, </a:t>
            </a:r>
          </a:p>
          <a:p>
            <a:pPr marL="0" indent="0" algn="just">
              <a:buNone/>
            </a:pPr>
            <a:r>
              <a:rPr lang="en-US" dirty="0"/>
              <a:t>              </a:t>
            </a:r>
            <a:r>
              <a:rPr lang="en-US" dirty="0" err="1"/>
              <a:t>Ghotekar</a:t>
            </a:r>
            <a:r>
              <a:rPr lang="en-US" dirty="0"/>
              <a:t>  </a:t>
            </a:r>
            <a:r>
              <a:rPr lang="en-US" dirty="0" err="1"/>
              <a:t>Ashwini</a:t>
            </a:r>
            <a:r>
              <a:rPr lang="en-US" dirty="0"/>
              <a:t> S, </a:t>
            </a:r>
            <a:r>
              <a:rPr lang="en-US" dirty="0" err="1"/>
              <a:t>Manjare</a:t>
            </a:r>
            <a:r>
              <a:rPr lang="en-US" dirty="0"/>
              <a:t> </a:t>
            </a:r>
            <a:r>
              <a:rPr lang="en-US" dirty="0" err="1"/>
              <a:t>Mayuri</a:t>
            </a:r>
            <a:r>
              <a:rPr lang="en-US" dirty="0"/>
              <a:t> A, Prof. </a:t>
            </a:r>
            <a:r>
              <a:rPr lang="en-US" dirty="0" err="1"/>
              <a:t>Bankar</a:t>
            </a:r>
            <a:r>
              <a:rPr lang="en-US" dirty="0"/>
              <a:t> A.A </a:t>
            </a:r>
          </a:p>
          <a:p>
            <a:pPr>
              <a:buFont typeface="Wingdings" pitchFamily="2" charset="2"/>
              <a:buChar char="§"/>
            </a:pPr>
            <a:endParaRPr lang="en-US" dirty="0"/>
          </a:p>
          <a:p>
            <a:pPr algn="just">
              <a:buFont typeface="Wingdings" pitchFamily="2" charset="2"/>
              <a:buChar char="§"/>
            </a:pPr>
            <a:r>
              <a:rPr lang="en-US" sz="2000" dirty="0"/>
              <a:t>The main goal of this paper is to help in real time for face recognition by using automated face surveillance camera. The proposed system has of 4 steps, it include training of real time images, face detection using </a:t>
            </a:r>
            <a:r>
              <a:rPr lang="en-US" sz="2000" dirty="0" err="1"/>
              <a:t>Haar</a:t>
            </a:r>
            <a:r>
              <a:rPr lang="en-US" sz="2000" dirty="0"/>
              <a:t> based classifier, comparison of trained real time images with images from the surveillance, camera result based on the comparison between them</a:t>
            </a:r>
          </a:p>
        </p:txBody>
      </p:sp>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Tree>
    <p:extLst>
      <p:ext uri="{BB962C8B-B14F-4D97-AF65-F5344CB8AC3E}">
        <p14:creationId xmlns:p14="http://schemas.microsoft.com/office/powerpoint/2010/main" val="373348601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checkerboard(across)">
                                      <p:cBhvr>
                                        <p:cTn id="7" dur="500"/>
                                        <p:tgtEl>
                                          <p:spTgt spid="1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0">
                                            <p:txEl>
                                              <p:pRg st="2" end="2"/>
                                            </p:txEl>
                                          </p:spTgt>
                                        </p:tgtEl>
                                        <p:attrNameLst>
                                          <p:attrName>style.visibility</p:attrName>
                                        </p:attrNameLst>
                                      </p:cBhvr>
                                      <p:to>
                                        <p:strVal val="visible"/>
                                      </p:to>
                                    </p:set>
                                    <p:animEffect transition="in" filter="checkerboard(across)">
                                      <p:cBhvr>
                                        <p:cTn id="12" dur="500"/>
                                        <p:tgtEl>
                                          <p:spTgt spid="10">
                                            <p:txEl>
                                              <p:pRg st="2" end="2"/>
                                            </p:txEl>
                                          </p:spTgt>
                                        </p:tgtEl>
                                      </p:cBhvr>
                                    </p:animEffect>
                                  </p:childTnLst>
                                </p:cTn>
                              </p:par>
                              <p:par>
                                <p:cTn id="13" presetID="5" presetClass="entr" presetSubtype="10" fill="hold" nodeType="with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animEffect transition="in" filter="checkerboard(across)">
                                      <p:cBhvr>
                                        <p:cTn id="15" dur="500"/>
                                        <p:tgtEl>
                                          <p:spTgt spid="10">
                                            <p:txEl>
                                              <p:pRg st="3" end="3"/>
                                            </p:txEl>
                                          </p:spTgt>
                                        </p:tgtEl>
                                      </p:cBhvr>
                                    </p:animEffect>
                                  </p:childTnLst>
                                </p:cTn>
                              </p:par>
                              <p:par>
                                <p:cTn id="16" presetID="5" presetClass="entr" presetSubtype="10" fill="hold" nodeType="withEffect">
                                  <p:stCondLst>
                                    <p:cond delay="0"/>
                                  </p:stCondLst>
                                  <p:childTnLst>
                                    <p:set>
                                      <p:cBhvr>
                                        <p:cTn id="17" dur="1" fill="hold">
                                          <p:stCondLst>
                                            <p:cond delay="0"/>
                                          </p:stCondLst>
                                        </p:cTn>
                                        <p:tgtEl>
                                          <p:spTgt spid="10">
                                            <p:txEl>
                                              <p:pRg st="4" end="4"/>
                                            </p:txEl>
                                          </p:spTgt>
                                        </p:tgtEl>
                                        <p:attrNameLst>
                                          <p:attrName>style.visibility</p:attrName>
                                        </p:attrNameLst>
                                      </p:cBhvr>
                                      <p:to>
                                        <p:strVal val="visible"/>
                                      </p:to>
                                    </p:set>
                                    <p:animEffect transition="in" filter="checkerboard(across)">
                                      <p:cBhvr>
                                        <p:cTn id="18" dur="500"/>
                                        <p:tgtEl>
                                          <p:spTgt spid="10">
                                            <p:txEl>
                                              <p:pRg st="4" end="4"/>
                                            </p:txEl>
                                          </p:spTgt>
                                        </p:tgtEl>
                                      </p:cBhvr>
                                    </p:animEffect>
                                  </p:childTnLst>
                                </p:cTn>
                              </p:par>
                              <p:par>
                                <p:cTn id="19" presetID="5" presetClass="entr" presetSubtype="10" fill="hold" nodeType="withEffect">
                                  <p:stCondLst>
                                    <p:cond delay="0"/>
                                  </p:stCondLst>
                                  <p:childTnLst>
                                    <p:set>
                                      <p:cBhvr>
                                        <p:cTn id="20" dur="1" fill="hold">
                                          <p:stCondLst>
                                            <p:cond delay="0"/>
                                          </p:stCondLst>
                                        </p:cTn>
                                        <p:tgtEl>
                                          <p:spTgt spid="10">
                                            <p:txEl>
                                              <p:pRg st="6" end="6"/>
                                            </p:txEl>
                                          </p:spTgt>
                                        </p:tgtEl>
                                        <p:attrNameLst>
                                          <p:attrName>style.visibility</p:attrName>
                                        </p:attrNameLst>
                                      </p:cBhvr>
                                      <p:to>
                                        <p:strVal val="visible"/>
                                      </p:to>
                                    </p:set>
                                    <p:animEffect transition="in" filter="checkerboard(across)">
                                      <p:cBhvr>
                                        <p:cTn id="21"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444500" y="542925"/>
            <a:ext cx="11214100" cy="840230"/>
          </a:xfrm>
        </p:spPr>
        <p:txBody>
          <a:bodyPr/>
          <a:lstStyle/>
          <a:p>
            <a:r>
              <a:rPr lang="en-IN" sz="5400" dirty="0">
                <a:solidFill>
                  <a:schemeClr val="accent1">
                    <a:lumMod val="20000"/>
                    <a:lumOff val="80000"/>
                  </a:schemeClr>
                </a:solidFill>
              </a:rPr>
              <a:t>System Analysis </a:t>
            </a:r>
            <a:endParaRPr lang="en-US" sz="5400" dirty="0">
              <a:solidFill>
                <a:schemeClr val="accent1">
                  <a:lumMod val="20000"/>
                  <a:lumOff val="80000"/>
                </a:schemeClr>
              </a:solidFill>
            </a:endParaRP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7</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p:txBody>
          <a:bodyPr/>
          <a:lstStyle/>
          <a:p>
            <a:r>
              <a:rPr lang="en-IN" dirty="0"/>
              <a:t>Existing System</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a:xfrm>
            <a:off x="6454513" y="1669588"/>
            <a:ext cx="5157788" cy="823912"/>
          </a:xfrm>
        </p:spPr>
        <p:txBody>
          <a:bodyPr/>
          <a:lstStyle/>
          <a:p>
            <a:r>
              <a:rPr lang="en-IN" dirty="0"/>
              <a:t>Proposed System </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p:txBody>
          <a:bodyPr>
            <a:normAutofit/>
          </a:bodyPr>
          <a:lstStyle/>
          <a:p>
            <a:pPr algn="just">
              <a:buFont typeface="Wingdings" pitchFamily="2" charset="2"/>
              <a:buChar char="§"/>
            </a:pPr>
            <a:r>
              <a:rPr lang="en-US" sz="2000" dirty="0"/>
              <a:t>Criminal record generally contains personal information about particular person along with photograph. To identify any criminal we need some identification regarding person, which are given by eye witnesses. Based on the details given by eyewitnesses, the criminal who did the crime will be identified manually. </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p:txBody>
          <a:bodyPr>
            <a:noAutofit/>
          </a:bodyPr>
          <a:lstStyle/>
          <a:p>
            <a:pPr algn="just">
              <a:buFont typeface="Wingdings" pitchFamily="2" charset="2"/>
              <a:buChar char="§"/>
            </a:pPr>
            <a:r>
              <a:rPr lang="en-US" sz="2000" dirty="0"/>
              <a:t>Feature extraction domain has plenty of collection of generalized face features from several images of the same subject. Then, each face image is processed, features are extracted and the collection of features are analyzed and combined into a single generalized features collection, which is written to the database. The face is our primary focus of attention in social inter course playing a major role in conveying identification</a:t>
            </a:r>
          </a:p>
        </p:txBody>
      </p:sp>
    </p:spTree>
    <p:extLst>
      <p:ext uri="{BB962C8B-B14F-4D97-AF65-F5344CB8AC3E}">
        <p14:creationId xmlns:p14="http://schemas.microsoft.com/office/powerpoint/2010/main" val="36072704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15E3981-F0D7-482C-A8E0-6A57700BECA7}"/>
              </a:ext>
            </a:extLst>
          </p:cNvPr>
          <p:cNvSpPr>
            <a:spLocks noGrp="1"/>
          </p:cNvSpPr>
          <p:nvPr>
            <p:ph type="title"/>
          </p:nvPr>
        </p:nvSpPr>
        <p:spPr>
          <a:xfrm>
            <a:off x="537098" y="554500"/>
            <a:ext cx="11214100" cy="1421928"/>
          </a:xfrm>
        </p:spPr>
        <p:txBody>
          <a:bodyPr/>
          <a:lstStyle/>
          <a:p>
            <a:r>
              <a:rPr lang="en-IN" sz="4800" dirty="0">
                <a:solidFill>
                  <a:schemeClr val="accent1">
                    <a:lumMod val="20000"/>
                    <a:lumOff val="80000"/>
                  </a:schemeClr>
                </a:solidFill>
              </a:rPr>
              <a:t>System Requirement </a:t>
            </a:r>
            <a:br>
              <a:rPr lang="en-IN" sz="4800" dirty="0">
                <a:solidFill>
                  <a:schemeClr val="accent1">
                    <a:lumMod val="20000"/>
                    <a:lumOff val="80000"/>
                  </a:schemeClr>
                </a:solidFill>
              </a:rPr>
            </a:br>
            <a:r>
              <a:rPr lang="en-IN" sz="4800" dirty="0">
                <a:solidFill>
                  <a:schemeClr val="accent1">
                    <a:lumMod val="20000"/>
                    <a:lumOff val="80000"/>
                  </a:schemeClr>
                </a:solidFill>
              </a:rPr>
              <a:t>Specifications</a:t>
            </a:r>
            <a:endParaRPr lang="en-US" sz="4800" dirty="0">
              <a:solidFill>
                <a:schemeClr val="accent1">
                  <a:lumMod val="20000"/>
                  <a:lumOff val="80000"/>
                </a:schemeClr>
              </a:solidFill>
            </a:endParaRPr>
          </a:p>
        </p:txBody>
      </p:sp>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7" name="Text Placeholder 6">
            <a:extLst>
              <a:ext uri="{FF2B5EF4-FFF2-40B4-BE49-F238E27FC236}">
                <a16:creationId xmlns:a16="http://schemas.microsoft.com/office/drawing/2014/main" id="{B74126B4-1E6C-4FFF-9282-40E18A85A07F}"/>
              </a:ext>
            </a:extLst>
          </p:cNvPr>
          <p:cNvSpPr>
            <a:spLocks noGrp="1"/>
          </p:cNvSpPr>
          <p:nvPr>
            <p:ph type="body" sz="quarter" idx="1"/>
          </p:nvPr>
        </p:nvSpPr>
        <p:spPr>
          <a:xfrm>
            <a:off x="456075" y="2375644"/>
            <a:ext cx="5157787" cy="823912"/>
          </a:xfrm>
        </p:spPr>
        <p:txBody>
          <a:bodyPr/>
          <a:lstStyle/>
          <a:p>
            <a:r>
              <a:rPr lang="en-IN" dirty="0"/>
              <a:t>Hardware Requirement </a:t>
            </a:r>
          </a:p>
        </p:txBody>
      </p:sp>
      <p:sp>
        <p:nvSpPr>
          <p:cNvPr id="5" name="Text Placeholder 4">
            <a:extLst>
              <a:ext uri="{FF2B5EF4-FFF2-40B4-BE49-F238E27FC236}">
                <a16:creationId xmlns:a16="http://schemas.microsoft.com/office/drawing/2014/main" id="{E0C87788-476B-4620-8002-A5C1177AD6C1}"/>
              </a:ext>
            </a:extLst>
          </p:cNvPr>
          <p:cNvSpPr>
            <a:spLocks noGrp="1"/>
          </p:cNvSpPr>
          <p:nvPr>
            <p:ph type="body" sz="quarter" idx="3"/>
          </p:nvPr>
        </p:nvSpPr>
        <p:spPr>
          <a:xfrm>
            <a:off x="6049401" y="2352495"/>
            <a:ext cx="5157788" cy="823912"/>
          </a:xfrm>
        </p:spPr>
        <p:txBody>
          <a:bodyPr/>
          <a:lstStyle/>
          <a:p>
            <a:r>
              <a:rPr lang="en-IN" dirty="0"/>
              <a:t>Software Requirement</a:t>
            </a:r>
          </a:p>
        </p:txBody>
      </p:sp>
      <p:sp>
        <p:nvSpPr>
          <p:cNvPr id="8" name="Text Placeholder 7">
            <a:extLst>
              <a:ext uri="{FF2B5EF4-FFF2-40B4-BE49-F238E27FC236}">
                <a16:creationId xmlns:a16="http://schemas.microsoft.com/office/drawing/2014/main" id="{47DC4E62-1A34-4F98-A451-214F1808519C}"/>
              </a:ext>
            </a:extLst>
          </p:cNvPr>
          <p:cNvSpPr>
            <a:spLocks noGrp="1"/>
          </p:cNvSpPr>
          <p:nvPr>
            <p:ph type="body" sz="quarter" idx="2"/>
          </p:nvPr>
        </p:nvSpPr>
        <p:spPr>
          <a:xfrm>
            <a:off x="502373" y="3396326"/>
            <a:ext cx="5157787" cy="2495188"/>
          </a:xfrm>
        </p:spPr>
        <p:txBody>
          <a:bodyPr>
            <a:normAutofit/>
          </a:bodyPr>
          <a:lstStyle/>
          <a:p>
            <a:pPr>
              <a:buFont typeface="Wingdings" pitchFamily="2" charset="2"/>
              <a:buChar char="§"/>
            </a:pPr>
            <a:r>
              <a:rPr lang="en-US" sz="2000" dirty="0"/>
              <a:t> Dual core processor and Higher version. </a:t>
            </a:r>
          </a:p>
          <a:p>
            <a:pPr>
              <a:buFont typeface="Wingdings" pitchFamily="2" charset="2"/>
              <a:buChar char="§"/>
            </a:pPr>
            <a:r>
              <a:rPr lang="en-US" sz="2000" dirty="0"/>
              <a:t> RAM 1GB and Above.   </a:t>
            </a:r>
          </a:p>
          <a:p>
            <a:pPr>
              <a:buFont typeface="Wingdings" pitchFamily="2" charset="2"/>
              <a:buChar char="§"/>
            </a:pPr>
            <a:r>
              <a:rPr lang="en-US" sz="2000" dirty="0"/>
              <a:t> 20GB of hard disk space in terminal</a:t>
            </a:r>
          </a:p>
          <a:p>
            <a:pPr marL="0" indent="0">
              <a:buNone/>
            </a:pPr>
            <a:r>
              <a:rPr lang="en-US" sz="2000" dirty="0"/>
              <a:t>    machines</a:t>
            </a:r>
          </a:p>
        </p:txBody>
      </p:sp>
      <p:sp>
        <p:nvSpPr>
          <p:cNvPr id="6" name="Text Placeholder 5">
            <a:extLst>
              <a:ext uri="{FF2B5EF4-FFF2-40B4-BE49-F238E27FC236}">
                <a16:creationId xmlns:a16="http://schemas.microsoft.com/office/drawing/2014/main" id="{000A9570-5EF6-4AFB-9FCA-7C8998E3FEB1}"/>
              </a:ext>
            </a:extLst>
          </p:cNvPr>
          <p:cNvSpPr>
            <a:spLocks noGrp="1"/>
          </p:cNvSpPr>
          <p:nvPr>
            <p:ph type="body" sz="quarter" idx="4"/>
          </p:nvPr>
        </p:nvSpPr>
        <p:spPr>
          <a:xfrm>
            <a:off x="6475412" y="3396326"/>
            <a:ext cx="5183188" cy="2668809"/>
          </a:xfrm>
        </p:spPr>
        <p:txBody>
          <a:bodyPr>
            <a:noAutofit/>
          </a:bodyPr>
          <a:lstStyle/>
          <a:p>
            <a:pPr>
              <a:buFont typeface="Wingdings" pitchFamily="2" charset="2"/>
              <a:buChar char="§"/>
            </a:pPr>
            <a:r>
              <a:rPr lang="en-US" sz="2000" dirty="0"/>
              <a:t> Windows 7 or above operating system . </a:t>
            </a:r>
          </a:p>
          <a:p>
            <a:pPr>
              <a:buFont typeface="Wingdings" pitchFamily="2" charset="2"/>
              <a:buChar char="§"/>
            </a:pPr>
            <a:r>
              <a:rPr lang="en-US" sz="2000" dirty="0"/>
              <a:t> MATLAB (Matrix Software). </a:t>
            </a:r>
          </a:p>
          <a:p>
            <a:pPr>
              <a:buFont typeface="Wingdings" pitchFamily="2" charset="2"/>
              <a:buChar char="§"/>
            </a:pPr>
            <a:r>
              <a:rPr lang="en-US" sz="2000" dirty="0"/>
              <a:t> </a:t>
            </a:r>
            <a:r>
              <a:rPr lang="en-US" sz="2000" dirty="0" err="1"/>
              <a:t>Aurdino</a:t>
            </a:r>
            <a:r>
              <a:rPr lang="en-US" sz="2000" dirty="0"/>
              <a:t> Supporting IDE’s. </a:t>
            </a:r>
          </a:p>
          <a:p>
            <a:pPr>
              <a:buFont typeface="Wingdings" pitchFamily="2" charset="2"/>
              <a:buChar char="§"/>
            </a:pPr>
            <a:r>
              <a:rPr lang="en-US" sz="2000" dirty="0"/>
              <a:t> Database.</a:t>
            </a:r>
          </a:p>
        </p:txBody>
      </p:sp>
    </p:spTree>
    <p:extLst>
      <p:ext uri="{BB962C8B-B14F-4D97-AF65-F5344CB8AC3E}">
        <p14:creationId xmlns:p14="http://schemas.microsoft.com/office/powerpoint/2010/main" val="3607270498"/>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 calcmode="lin" valueType="num">
                                      <p:cBhvr additive="base">
                                        <p:cTn id="7"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anim calcmode="lin" valueType="num">
                                      <p:cBhvr additive="base">
                                        <p:cTn id="1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8">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 calcmode="lin" valueType="num">
                                      <p:cBhvr additive="base">
                                        <p:cTn id="15" dur="500" fill="hold"/>
                                        <p:tgtEl>
                                          <p:spTgt spid="8">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8">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anim calcmode="lin" valueType="num">
                                      <p:cBhvr additive="base">
                                        <p:cTn id="19" dur="500" fill="hold"/>
                                        <p:tgtEl>
                                          <p:spTgt spid="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 calcmode="lin" valueType="num">
                                      <p:cBhvr additive="base">
                                        <p:cTn id="25"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
                                            <p:txEl>
                                              <p:pRg st="1" end="1"/>
                                            </p:txEl>
                                          </p:spTgt>
                                        </p:tgtEl>
                                        <p:attrNameLst>
                                          <p:attrName>style.visibility</p:attrName>
                                        </p:attrNameLst>
                                      </p:cBhvr>
                                      <p:to>
                                        <p:strVal val="visible"/>
                                      </p:to>
                                    </p:set>
                                    <p:anim calcmode="lin" valueType="num">
                                      <p:cBhvr additive="base">
                                        <p:cTn id="2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6">
                                            <p:txEl>
                                              <p:pRg st="1" end="1"/>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6">
                                            <p:txEl>
                                              <p:pRg st="2" end="2"/>
                                            </p:txEl>
                                          </p:spTgt>
                                        </p:tgtEl>
                                        <p:attrNameLst>
                                          <p:attrName>style.visibility</p:attrName>
                                        </p:attrNameLst>
                                      </p:cBhvr>
                                      <p:to>
                                        <p:strVal val="visible"/>
                                      </p:to>
                                    </p:set>
                                    <p:anim calcmode="lin" valueType="num">
                                      <p:cBhvr additive="base">
                                        <p:cTn id="3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6">
                                            <p:txEl>
                                              <p:pRg st="2" end="2"/>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6">
                                            <p:txEl>
                                              <p:pRg st="3" end="3"/>
                                            </p:txEl>
                                          </p:spTgt>
                                        </p:tgtEl>
                                        <p:attrNameLst>
                                          <p:attrName>style.visibility</p:attrName>
                                        </p:attrNameLst>
                                      </p:cBhvr>
                                      <p:to>
                                        <p:strVal val="visible"/>
                                      </p:to>
                                    </p:set>
                                    <p:anim calcmode="lin" valueType="num">
                                      <p:cBhvr additive="base">
                                        <p:cTn id="37"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13717" y="-92597"/>
            <a:ext cx="7077456" cy="1243584"/>
          </a:xfrm>
        </p:spPr>
        <p:txBody>
          <a:bodyPr/>
          <a:lstStyle/>
          <a:p>
            <a:r>
              <a:rPr lang="en-IN" sz="5400" dirty="0">
                <a:solidFill>
                  <a:schemeClr val="accent1">
                    <a:lumMod val="20000"/>
                    <a:lumOff val="80000"/>
                  </a:schemeClr>
                </a:solidFill>
              </a:rPr>
              <a:t>System Design</a:t>
            </a:r>
            <a:endParaRPr lang="en-US" sz="5400" dirty="0">
              <a:solidFill>
                <a:schemeClr val="accent1">
                  <a:lumMod val="20000"/>
                  <a:lumOff val="80000"/>
                </a:schemeClr>
              </a:solidFill>
            </a:endParaRPr>
          </a:p>
        </p:txBody>
      </p:sp>
      <p:sp>
        <p:nvSpPr>
          <p:cNvPr id="3" name="Subtitle 2"/>
          <p:cNvSpPr>
            <a:spLocks noGrp="1"/>
          </p:cNvSpPr>
          <p:nvPr>
            <p:ph type="subTitle" idx="1"/>
          </p:nvPr>
        </p:nvSpPr>
        <p:spPr>
          <a:xfrm>
            <a:off x="2386400" y="1388962"/>
            <a:ext cx="7050175" cy="482899"/>
          </a:xfrm>
        </p:spPr>
        <p:txBody>
          <a:bodyPr>
            <a:normAutofit/>
          </a:bodyPr>
          <a:lstStyle/>
          <a:p>
            <a:r>
              <a:rPr lang="en-IN" sz="2400" b="1" dirty="0"/>
              <a:t>ER Diagram</a:t>
            </a:r>
          </a:p>
        </p:txBody>
      </p:sp>
      <p:pic>
        <p:nvPicPr>
          <p:cNvPr id="4" name="Picture 3" descr="Er.jpeg"/>
          <p:cNvPicPr>
            <a:picLocks noChangeAspect="1"/>
          </p:cNvPicPr>
          <p:nvPr/>
        </p:nvPicPr>
        <p:blipFill>
          <a:blip r:embed="rId2"/>
          <a:stretch>
            <a:fillRect/>
          </a:stretch>
        </p:blipFill>
        <p:spPr>
          <a:xfrm>
            <a:off x="2247505" y="1871861"/>
            <a:ext cx="9176204" cy="4475969"/>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710777" y="371630"/>
            <a:ext cx="7050175" cy="414943"/>
          </a:xfrm>
        </p:spPr>
        <p:txBody>
          <a:bodyPr>
            <a:normAutofit/>
          </a:bodyPr>
          <a:lstStyle/>
          <a:p>
            <a:r>
              <a:rPr lang="en-IN" sz="2000" b="1" dirty="0"/>
              <a:t>Data Flow Diagram</a:t>
            </a:r>
          </a:p>
        </p:txBody>
      </p:sp>
      <p:pic>
        <p:nvPicPr>
          <p:cNvPr id="5" name="Picture 4" descr="Data flow.jpeg"/>
          <p:cNvPicPr>
            <a:picLocks noChangeAspect="1"/>
          </p:cNvPicPr>
          <p:nvPr/>
        </p:nvPicPr>
        <p:blipFill>
          <a:blip r:embed="rId2"/>
          <a:stretch>
            <a:fillRect/>
          </a:stretch>
        </p:blipFill>
        <p:spPr>
          <a:xfrm>
            <a:off x="3835440" y="1002509"/>
            <a:ext cx="4992914" cy="564583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296297" y="664302"/>
            <a:ext cx="7050175" cy="414943"/>
          </a:xfrm>
        </p:spPr>
        <p:txBody>
          <a:bodyPr>
            <a:normAutofit/>
          </a:bodyPr>
          <a:lstStyle/>
          <a:p>
            <a:r>
              <a:rPr lang="en-IN" sz="2000" b="1" dirty="0"/>
              <a:t>Flow Chart </a:t>
            </a:r>
          </a:p>
        </p:txBody>
      </p:sp>
      <p:pic>
        <p:nvPicPr>
          <p:cNvPr id="6" name="Picture 5" descr="flow chart.jpeg"/>
          <p:cNvPicPr>
            <a:picLocks noChangeAspect="1"/>
          </p:cNvPicPr>
          <p:nvPr/>
        </p:nvPicPr>
        <p:blipFill>
          <a:blip r:embed="rId2"/>
          <a:stretch>
            <a:fillRect/>
          </a:stretch>
        </p:blipFill>
        <p:spPr>
          <a:xfrm>
            <a:off x="1974272" y="1378163"/>
            <a:ext cx="9869750" cy="537891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5667175" y="833304"/>
            <a:ext cx="5291101" cy="1198735"/>
          </a:xfrm>
        </p:spPr>
        <p:txBody>
          <a:bodyPr/>
          <a:lstStyle/>
          <a:p>
            <a:r>
              <a:rPr lang="en-IN" dirty="0">
                <a:solidFill>
                  <a:schemeClr val="accent1">
                    <a:lumMod val="20000"/>
                    <a:lumOff val="80000"/>
                  </a:schemeClr>
                </a:solidFill>
              </a:rPr>
              <a:t>Implementation</a:t>
            </a:r>
            <a:endParaRPr lang="en-GB" dirty="0">
              <a:solidFill>
                <a:schemeClr val="accent1">
                  <a:lumMod val="20000"/>
                  <a:lumOff val="80000"/>
                </a:schemeClr>
              </a:solidFill>
            </a:endParaRPr>
          </a:p>
        </p:txBody>
      </p:sp>
      <p:sp>
        <p:nvSpPr>
          <p:cNvPr id="3" name="Rectangle 2"/>
          <p:cNvSpPr/>
          <p:nvPr/>
        </p:nvSpPr>
        <p:spPr>
          <a:xfrm>
            <a:off x="4920305" y="2500422"/>
            <a:ext cx="6662087" cy="2862322"/>
          </a:xfrm>
          <a:prstGeom prst="rect">
            <a:avLst/>
          </a:prstGeom>
        </p:spPr>
        <p:txBody>
          <a:bodyPr wrap="square">
            <a:spAutoFit/>
          </a:bodyPr>
          <a:lstStyle/>
          <a:p>
            <a:pPr marL="342900" indent="-342900" algn="just">
              <a:buClr>
                <a:schemeClr val="accent2">
                  <a:lumMod val="60000"/>
                  <a:lumOff val="40000"/>
                </a:schemeClr>
              </a:buClr>
              <a:buFont typeface="Wingdings" pitchFamily="2" charset="2"/>
              <a:buChar char="§"/>
            </a:pPr>
            <a:r>
              <a:rPr lang="en-US" sz="2000" dirty="0">
                <a:solidFill>
                  <a:schemeClr val="bg1"/>
                </a:solidFill>
              </a:rPr>
              <a:t>The proposed system is to detect criminals in public places with the help of Robots.</a:t>
            </a:r>
          </a:p>
          <a:p>
            <a:pPr marL="342900" indent="-342900" algn="just">
              <a:buClr>
                <a:schemeClr val="accent2">
                  <a:lumMod val="60000"/>
                  <a:lumOff val="40000"/>
                </a:schemeClr>
              </a:buClr>
              <a:buFont typeface="Wingdings" pitchFamily="2" charset="2"/>
              <a:buChar char="§"/>
            </a:pPr>
            <a:r>
              <a:rPr lang="en-US" sz="2000" dirty="0">
                <a:solidFill>
                  <a:schemeClr val="bg1"/>
                </a:solidFill>
              </a:rPr>
              <a:t>The system does facial recognition for covered (by Mask or scarf) and uncovered faces.</a:t>
            </a:r>
          </a:p>
          <a:p>
            <a:pPr marL="342900" indent="-342900" algn="just">
              <a:buClr>
                <a:schemeClr val="accent2">
                  <a:lumMod val="60000"/>
                  <a:lumOff val="40000"/>
                </a:schemeClr>
              </a:buClr>
              <a:buFont typeface="Wingdings" pitchFamily="2" charset="2"/>
              <a:buChar char="§"/>
            </a:pPr>
            <a:r>
              <a:rPr lang="en-US" sz="2000" dirty="0">
                <a:solidFill>
                  <a:schemeClr val="bg1"/>
                </a:solidFill>
              </a:rPr>
              <a:t>With the help of Python language and </a:t>
            </a:r>
            <a:r>
              <a:rPr lang="en-US" sz="2000" dirty="0" err="1">
                <a:solidFill>
                  <a:schemeClr val="bg1"/>
                </a:solidFill>
              </a:rPr>
              <a:t>OpenCV</a:t>
            </a:r>
            <a:r>
              <a:rPr lang="en-US" sz="2000" dirty="0">
                <a:solidFill>
                  <a:schemeClr val="bg1"/>
                </a:solidFill>
              </a:rPr>
              <a:t> the system software will be developed.</a:t>
            </a:r>
          </a:p>
          <a:p>
            <a:pPr marL="342900" indent="-342900" algn="just">
              <a:buClr>
                <a:schemeClr val="accent2">
                  <a:lumMod val="60000"/>
                  <a:lumOff val="40000"/>
                </a:schemeClr>
              </a:buClr>
              <a:buFont typeface="Wingdings" pitchFamily="2" charset="2"/>
              <a:buChar char="§"/>
            </a:pPr>
            <a:r>
              <a:rPr lang="en-US" sz="2000" dirty="0">
                <a:solidFill>
                  <a:schemeClr val="bg1"/>
                </a:solidFill>
              </a:rPr>
              <a:t>Along with the above one, we use </a:t>
            </a:r>
            <a:r>
              <a:rPr lang="en-US" sz="2000" dirty="0" err="1">
                <a:solidFill>
                  <a:schemeClr val="bg1"/>
                </a:solidFill>
              </a:rPr>
              <a:t>Haar</a:t>
            </a:r>
            <a:r>
              <a:rPr lang="en-US" sz="2000" dirty="0">
                <a:solidFill>
                  <a:schemeClr val="bg1"/>
                </a:solidFill>
              </a:rPr>
              <a:t> cascading Algorithm and Gait Analysis for detecting Humans and their motions.</a:t>
            </a:r>
          </a:p>
        </p:txBody>
      </p:sp>
    </p:spTree>
    <p:extLst>
      <p:ext uri="{BB962C8B-B14F-4D97-AF65-F5344CB8AC3E}">
        <p14:creationId xmlns:p14="http://schemas.microsoft.com/office/powerpoint/2010/main" val="429771863"/>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6897260" y="3109692"/>
            <a:ext cx="4945598" cy="1243584"/>
          </a:xfrm>
        </p:spPr>
        <p:txBody>
          <a:bodyPr/>
          <a:lstStyle/>
          <a:p>
            <a:r>
              <a:rPr lang="en-US" dirty="0"/>
              <a:t>Thank You</a:t>
            </a:r>
            <a:endParaRPr lang="en-GB" dirty="0"/>
          </a:p>
        </p:txBody>
      </p:sp>
    </p:spTree>
    <p:extLst>
      <p:ext uri="{BB962C8B-B14F-4D97-AF65-F5344CB8AC3E}">
        <p14:creationId xmlns:p14="http://schemas.microsoft.com/office/powerpoint/2010/main" val="44069682"/>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tf66687569_win32">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2.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TotalTime>
  <Words>798</Words>
  <Application>Microsoft Office PowerPoint</Application>
  <PresentationFormat>Widescreen</PresentationFormat>
  <Paragraphs>64</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Trade Gothic LT Pro</vt:lpstr>
      <vt:lpstr>Trebuchet MS</vt:lpstr>
      <vt:lpstr>Trebuchet MS (Headings)</vt:lpstr>
      <vt:lpstr>Wingdings</vt:lpstr>
      <vt:lpstr>tf66687569_win32</vt:lpstr>
      <vt:lpstr>CRIMINAL IDENTIFICATION</vt:lpstr>
      <vt:lpstr>Abstract</vt:lpstr>
      <vt:lpstr>Introduction</vt:lpstr>
      <vt:lpstr>Literature Survey</vt:lpstr>
      <vt:lpstr>PowerPoint Presentation</vt:lpstr>
      <vt:lpstr>PowerPoint Presentation</vt:lpstr>
      <vt:lpstr>System Analysis </vt:lpstr>
      <vt:lpstr>System Requirement  Specifications</vt:lpstr>
      <vt:lpstr>System Design</vt:lpstr>
      <vt:lpstr>PowerPoint Presentation</vt:lpstr>
      <vt:lpstr>PowerPoint Presentation</vt:lpstr>
      <vt:lpstr>Implementation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Tharun P</cp:lastModifiedBy>
  <cp:revision>2</cp:revision>
  <dcterms:created xsi:type="dcterms:W3CDTF">2022-03-02T13:16:41Z</dcterms:created>
  <dcterms:modified xsi:type="dcterms:W3CDTF">2025-04-07T05:12:58Z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